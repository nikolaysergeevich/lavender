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559675" cy="10691813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57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FC415-2151-0EB3-1EFC-4E4FCEEA1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960" y="1749795"/>
            <a:ext cx="5669756" cy="3722335"/>
          </a:xfrm>
        </p:spPr>
        <p:txBody>
          <a:bodyPr anchor="b"/>
          <a:lstStyle>
            <a:lvl1pPr algn="ctr">
              <a:defRPr sz="3721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88835C-CB3A-456A-B0FE-E158EAB42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510" indent="0" algn="ctr">
              <a:buNone/>
              <a:defRPr sz="1240"/>
            </a:lvl2pPr>
            <a:lvl3pPr marL="567019" indent="0" algn="ctr">
              <a:buNone/>
              <a:defRPr sz="1116"/>
            </a:lvl3pPr>
            <a:lvl4pPr marL="850529" indent="0" algn="ctr">
              <a:buNone/>
              <a:defRPr sz="992"/>
            </a:lvl4pPr>
            <a:lvl5pPr marL="1134039" indent="0" algn="ctr">
              <a:buNone/>
              <a:defRPr sz="992"/>
            </a:lvl5pPr>
            <a:lvl6pPr marL="1417549" indent="0" algn="ctr">
              <a:buNone/>
              <a:defRPr sz="992"/>
            </a:lvl6pPr>
            <a:lvl7pPr marL="1701058" indent="0" algn="ctr">
              <a:buNone/>
              <a:defRPr sz="992"/>
            </a:lvl7pPr>
            <a:lvl8pPr marL="1984568" indent="0" algn="ctr">
              <a:buNone/>
              <a:defRPr sz="992"/>
            </a:lvl8pPr>
            <a:lvl9pPr marL="2268078" indent="0" algn="ctr">
              <a:buNone/>
              <a:defRPr sz="992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EE0883-8BDA-4B70-AE95-C6038E2B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ED5-5753-44D8-BA55-9ABE2D4FA239}" type="datetimeFigureOut">
              <a:rPr lang="ru-BY" smtClean="0"/>
              <a:t>25.06.2026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065DD5-27FC-B236-B263-503BCA3F6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1C1C3B-E41F-E793-2286-613C7C0D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2732-17E5-4621-93DE-F074B56A540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15423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AA96A-1CB2-8D85-21AC-13016AF7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EE7C9E-0CB3-BE0C-E5FA-A6C9B2E27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C3EEF3-C8F5-9508-20D4-FDE61FD8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ED5-5753-44D8-BA55-9ABE2D4FA239}" type="datetimeFigureOut">
              <a:rPr lang="ru-BY" smtClean="0"/>
              <a:t>25.06.2026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6597CF-E1D9-2C14-6A43-61E094529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98032F-DBFB-6931-097E-47632DB47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2732-17E5-4621-93DE-F074B56A540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193733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0FCE3-C6EB-A6AF-F2BE-0F0652BD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790" y="2665532"/>
            <a:ext cx="6520220" cy="4447496"/>
          </a:xfrm>
        </p:spPr>
        <p:txBody>
          <a:bodyPr anchor="b"/>
          <a:lstStyle>
            <a:lvl1pPr>
              <a:defRPr sz="3721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2E53AA-72A6-3659-95DB-F560B4A84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790" y="7155103"/>
            <a:ext cx="6520220" cy="2338833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510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7019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529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4039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7549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105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456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807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879EEB-DBD7-D9BB-0A62-10331CCDD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ED5-5753-44D8-BA55-9ABE2D4FA239}" type="datetimeFigureOut">
              <a:rPr lang="ru-BY" smtClean="0"/>
              <a:t>25.06.2026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68D325-7D8A-6ACF-B2F6-D2C0EAB2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CF94F6-CED8-F87A-FA1E-CB8F9A0A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2732-17E5-4621-93DE-F074B56A540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113694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B973A1-85E3-8B4D-2CC4-9D577C53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1FADEB-75DA-658B-F163-CD6F9E34F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BDAD9A-43F7-6A6E-9FA9-CC0660ACD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DC08A2-95CF-9D4A-B284-D57E3214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ED5-5753-44D8-BA55-9ABE2D4FA239}" type="datetimeFigureOut">
              <a:rPr lang="ru-BY" smtClean="0"/>
              <a:t>25.06.2026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53450E-983D-CB11-A78F-AF26322B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CF19D2-E531-D269-6106-84339318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2732-17E5-4621-93DE-F074B56A540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52032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9392E-E0A4-5C4A-6B4F-718D4DFD9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3A72B4-9F20-172A-AF99-2036C8B31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7" cy="128450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510" indent="0">
              <a:buNone/>
              <a:defRPr sz="1240" b="1"/>
            </a:lvl2pPr>
            <a:lvl3pPr marL="567019" indent="0">
              <a:buNone/>
              <a:defRPr sz="1116" b="1"/>
            </a:lvl3pPr>
            <a:lvl4pPr marL="850529" indent="0">
              <a:buNone/>
              <a:defRPr sz="992" b="1"/>
            </a:lvl4pPr>
            <a:lvl5pPr marL="1134039" indent="0">
              <a:buNone/>
              <a:defRPr sz="992" b="1"/>
            </a:lvl5pPr>
            <a:lvl6pPr marL="1417549" indent="0">
              <a:buNone/>
              <a:defRPr sz="992" b="1"/>
            </a:lvl6pPr>
            <a:lvl7pPr marL="1701058" indent="0">
              <a:buNone/>
              <a:defRPr sz="992" b="1"/>
            </a:lvl7pPr>
            <a:lvl8pPr marL="1984568" indent="0">
              <a:buNone/>
              <a:defRPr sz="992" b="1"/>
            </a:lvl8pPr>
            <a:lvl9pPr marL="2268078" indent="0">
              <a:buNone/>
              <a:defRPr sz="992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6332BB-46C2-3E1B-07FE-224ECF0E2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7" cy="5744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F7345A-BD95-5C71-7F5A-608CF1583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510" indent="0">
              <a:buNone/>
              <a:defRPr sz="1240" b="1"/>
            </a:lvl2pPr>
            <a:lvl3pPr marL="567019" indent="0">
              <a:buNone/>
              <a:defRPr sz="1116" b="1"/>
            </a:lvl3pPr>
            <a:lvl4pPr marL="850529" indent="0">
              <a:buNone/>
              <a:defRPr sz="992" b="1"/>
            </a:lvl4pPr>
            <a:lvl5pPr marL="1134039" indent="0">
              <a:buNone/>
              <a:defRPr sz="992" b="1"/>
            </a:lvl5pPr>
            <a:lvl6pPr marL="1417549" indent="0">
              <a:buNone/>
              <a:defRPr sz="992" b="1"/>
            </a:lvl6pPr>
            <a:lvl7pPr marL="1701058" indent="0">
              <a:buNone/>
              <a:defRPr sz="992" b="1"/>
            </a:lvl7pPr>
            <a:lvl8pPr marL="1984568" indent="0">
              <a:buNone/>
              <a:defRPr sz="992" b="1"/>
            </a:lvl8pPr>
            <a:lvl9pPr marL="2268078" indent="0">
              <a:buNone/>
              <a:defRPr sz="992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41D91CA-9DB7-6CBC-276A-F6A9B0676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96DC31-FC95-C399-2AB1-535367B03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ED5-5753-44D8-BA55-9ABE2D4FA239}" type="datetimeFigureOut">
              <a:rPr lang="ru-BY" smtClean="0"/>
              <a:t>25.06.2026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6ADE7D3-BFF0-0A1B-D603-7ED24E58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AB479E9-825E-3C4A-0BD0-C23CE8E2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2732-17E5-4621-93DE-F074B56A540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2118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BE57D-3D0B-E02E-0E1C-1B67BAC4E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774CDD-BD39-F651-62F5-43C1C755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ED5-5753-44D8-BA55-9ABE2D4FA239}" type="datetimeFigureOut">
              <a:rPr lang="ru-BY" smtClean="0"/>
              <a:t>25.06.2026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4379B9-08BA-16E7-3681-01F58F16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C45973-6D78-0E6F-3AA5-B20AA54A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2732-17E5-4621-93DE-F074B56A540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295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4218E74-D231-E169-6BA0-73ABC259E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ED5-5753-44D8-BA55-9ABE2D4FA239}" type="datetimeFigureOut">
              <a:rPr lang="ru-BY" smtClean="0"/>
              <a:t>25.06.2026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8DB4A52-DC65-AC62-1472-A12E3FEF1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C8226B-DDE8-47F0-B00B-18BC3D53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2732-17E5-4621-93DE-F074B56A540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16125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2A8C91-D404-C297-1E56-D1088F8EC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DFDD19-2EEF-196A-117E-3F2FF8155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848" y="1539425"/>
            <a:ext cx="3827085" cy="7598117"/>
          </a:xfrm>
        </p:spPr>
        <p:txBody>
          <a:bodyPr/>
          <a:lstStyle>
            <a:lvl1pPr>
              <a:defRPr sz="1984"/>
            </a:lvl1pPr>
            <a:lvl2pPr>
              <a:defRPr sz="1736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F5823F-A2D3-8361-F344-4DEB926EB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992"/>
            </a:lvl1pPr>
            <a:lvl2pPr marL="283510" indent="0">
              <a:buNone/>
              <a:defRPr sz="868"/>
            </a:lvl2pPr>
            <a:lvl3pPr marL="567019" indent="0">
              <a:buNone/>
              <a:defRPr sz="744"/>
            </a:lvl3pPr>
            <a:lvl4pPr marL="850529" indent="0">
              <a:buNone/>
              <a:defRPr sz="620"/>
            </a:lvl4pPr>
            <a:lvl5pPr marL="1134039" indent="0">
              <a:buNone/>
              <a:defRPr sz="620"/>
            </a:lvl5pPr>
            <a:lvl6pPr marL="1417549" indent="0">
              <a:buNone/>
              <a:defRPr sz="620"/>
            </a:lvl6pPr>
            <a:lvl7pPr marL="1701058" indent="0">
              <a:buNone/>
              <a:defRPr sz="620"/>
            </a:lvl7pPr>
            <a:lvl8pPr marL="1984568" indent="0">
              <a:buNone/>
              <a:defRPr sz="620"/>
            </a:lvl8pPr>
            <a:lvl9pPr marL="2268078" indent="0">
              <a:buNone/>
              <a:defRPr sz="62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3E7BAA-B5BF-7BA4-58C4-4C28F23B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ED5-5753-44D8-BA55-9ABE2D4FA239}" type="datetimeFigureOut">
              <a:rPr lang="ru-BY" smtClean="0"/>
              <a:t>25.06.2026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6146D9-AF22-271C-B5F4-B37D7C26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E860C6-3C5F-9469-60A3-64AFECD62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2732-17E5-4621-93DE-F074B56A540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39814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5BBA48-02A1-2B50-BAE1-3FCA447E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C7A245-4BAB-85AE-379F-A63696B23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3848" y="1539425"/>
            <a:ext cx="3827085" cy="7598117"/>
          </a:xfrm>
        </p:spPr>
        <p:txBody>
          <a:bodyPr/>
          <a:lstStyle>
            <a:lvl1pPr marL="0" indent="0">
              <a:buNone/>
              <a:defRPr sz="1984"/>
            </a:lvl1pPr>
            <a:lvl2pPr marL="283510" indent="0">
              <a:buNone/>
              <a:defRPr sz="1736"/>
            </a:lvl2pPr>
            <a:lvl3pPr marL="567019" indent="0">
              <a:buNone/>
              <a:defRPr sz="1488"/>
            </a:lvl3pPr>
            <a:lvl4pPr marL="850529" indent="0">
              <a:buNone/>
              <a:defRPr sz="1240"/>
            </a:lvl4pPr>
            <a:lvl5pPr marL="1134039" indent="0">
              <a:buNone/>
              <a:defRPr sz="1240"/>
            </a:lvl5pPr>
            <a:lvl6pPr marL="1417549" indent="0">
              <a:buNone/>
              <a:defRPr sz="1240"/>
            </a:lvl6pPr>
            <a:lvl7pPr marL="1701058" indent="0">
              <a:buNone/>
              <a:defRPr sz="1240"/>
            </a:lvl7pPr>
            <a:lvl8pPr marL="1984568" indent="0">
              <a:buNone/>
              <a:defRPr sz="1240"/>
            </a:lvl8pPr>
            <a:lvl9pPr marL="2268078" indent="0">
              <a:buNone/>
              <a:defRPr sz="124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CDF345-E9DE-7338-370C-76E4DB3F6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992"/>
            </a:lvl1pPr>
            <a:lvl2pPr marL="283510" indent="0">
              <a:buNone/>
              <a:defRPr sz="868"/>
            </a:lvl2pPr>
            <a:lvl3pPr marL="567019" indent="0">
              <a:buNone/>
              <a:defRPr sz="744"/>
            </a:lvl3pPr>
            <a:lvl4pPr marL="850529" indent="0">
              <a:buNone/>
              <a:defRPr sz="620"/>
            </a:lvl4pPr>
            <a:lvl5pPr marL="1134039" indent="0">
              <a:buNone/>
              <a:defRPr sz="620"/>
            </a:lvl5pPr>
            <a:lvl6pPr marL="1417549" indent="0">
              <a:buNone/>
              <a:defRPr sz="620"/>
            </a:lvl6pPr>
            <a:lvl7pPr marL="1701058" indent="0">
              <a:buNone/>
              <a:defRPr sz="620"/>
            </a:lvl7pPr>
            <a:lvl8pPr marL="1984568" indent="0">
              <a:buNone/>
              <a:defRPr sz="620"/>
            </a:lvl8pPr>
            <a:lvl9pPr marL="2268078" indent="0">
              <a:buNone/>
              <a:defRPr sz="62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76ABA9-A5E0-5C3B-32D3-6F9AF755D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ED5-5753-44D8-BA55-9ABE2D4FA239}" type="datetimeFigureOut">
              <a:rPr lang="ru-BY" smtClean="0"/>
              <a:t>25.06.2026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CF4D89-C868-C5A2-CBDD-78995B741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B06C13-D343-68CA-174A-5BDD6B3A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2732-17E5-4621-93DE-F074B56A540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8933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66E7B-1EBA-0CBF-6EF6-71420091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8AADCA4-2075-A5C9-8B52-FEECD3294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25B624-3D22-97DE-0D40-A829E0A5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ED5-5753-44D8-BA55-9ABE2D4FA239}" type="datetimeFigureOut">
              <a:rPr lang="ru-BY" smtClean="0"/>
              <a:t>25.06.2026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411486-7118-9FAD-A495-1D80ACA20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F1E630-20D0-7011-8454-A3DC62A9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2732-17E5-4621-93DE-F074B56A540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3523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10F1771-B1D5-CDA4-B9FE-69BB66A1B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1E5A17-B230-4E1C-5EC4-7BD3718DD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729" y="569240"/>
            <a:ext cx="4795669" cy="9060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56E8BE-3CD6-C6AC-E521-AEAB9127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ADED5-5753-44D8-BA55-9ABE2D4FA239}" type="datetimeFigureOut">
              <a:rPr lang="ru-BY" smtClean="0"/>
              <a:t>25.06.2026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150D8D-66FC-C527-B7FB-BF13BE60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8C0DBE-2598-4105-7A1E-9DB8C563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2732-17E5-4621-93DE-F074B56A540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36486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6A08EF-7291-A3A3-3150-DFF34B4C3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3F9D53-36EC-D4FE-3376-740D710C9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CAC979-7EAB-DDD7-029D-83AA9477A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729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ADED5-5753-44D8-BA55-9ABE2D4FA239}" type="datetimeFigureOut">
              <a:rPr lang="ru-BY" smtClean="0"/>
              <a:t>25.06.2026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13D58-E019-E215-A18B-47CDB642E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98EBF8-3FF5-AEB1-F970-6B3D21743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9021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F2732-17E5-4621-93DE-F074B56A540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1514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67019" rtl="0" eaLnBrk="1" latinLnBrk="0" hangingPunct="1">
        <a:lnSpc>
          <a:spcPct val="90000"/>
        </a:lnSpc>
        <a:spcBef>
          <a:spcPct val="0"/>
        </a:spcBef>
        <a:buNone/>
        <a:defRPr sz="27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755" indent="-141755" algn="l" defTabSz="567019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25265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774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2284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794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930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281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632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983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510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701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52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754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1058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4568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8078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ebp"/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ebp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ebp"/><Relationship Id="rId2" Type="http://schemas.openxmlformats.org/officeDocument/2006/relationships/image" Target="../media/image9.web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eb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tel:+375291357999" TargetMode="External"/><Relationship Id="rId2" Type="http://schemas.openxmlformats.org/officeDocument/2006/relationships/hyperlink" Target="https://t.me/kidseventa1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13135CF1-8C55-6727-EF85-AB56B9958C79}"/>
              </a:ext>
            </a:extLst>
          </p:cNvPr>
          <p:cNvSpPr/>
          <p:nvPr/>
        </p:nvSpPr>
        <p:spPr>
          <a:xfrm>
            <a:off x="0" y="0"/>
            <a:ext cx="7560056" cy="10692003"/>
          </a:xfrm>
          <a:prstGeom prst="roundRect">
            <a:avLst/>
          </a:prstGeom>
          <a:solidFill>
            <a:srgbClr val="08090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3A5C59-7589-1261-5EA6-2A7397A70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70478"/>
            <a:ext cx="7560056" cy="13432958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B36D7EC-25DF-791F-64BD-4807A9C22C75}"/>
              </a:ext>
            </a:extLst>
          </p:cNvPr>
          <p:cNvSpPr/>
          <p:nvPr/>
        </p:nvSpPr>
        <p:spPr>
          <a:xfrm>
            <a:off x="0" y="0"/>
            <a:ext cx="7560056" cy="10692003"/>
          </a:xfrm>
          <a:prstGeom prst="rect">
            <a:avLst/>
          </a:prstGeom>
          <a:solidFill>
            <a:srgbClr val="08090D">
              <a:alpha val="63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402CA-C5CA-2959-FD68-5FE8AC0DAE4C}"/>
              </a:ext>
            </a:extLst>
          </p:cNvPr>
          <p:cNvSpPr txBox="1"/>
          <p:nvPr/>
        </p:nvSpPr>
        <p:spPr>
          <a:xfrm>
            <a:off x="609600" y="5715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Georgia" panose="02040502050405020303" pitchFamily="18" charset="0"/>
              </a:rPr>
              <a:t>LAVDRAGON</a:t>
            </a:r>
            <a:endParaRPr lang="ru-BY" sz="12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B3D2A65-4017-5B46-6021-332931A4510E}"/>
              </a:ext>
            </a:extLst>
          </p:cNvPr>
          <p:cNvSpPr/>
          <p:nvPr/>
        </p:nvSpPr>
        <p:spPr>
          <a:xfrm>
            <a:off x="609600" y="6540500"/>
            <a:ext cx="2032000" cy="355600"/>
          </a:xfrm>
          <a:prstGeom prst="roundRect">
            <a:avLst/>
          </a:prstGeom>
          <a:solidFill>
            <a:schemeClr val="accent1">
              <a:alpha val="0"/>
            </a:schemeClr>
          </a:solidFill>
          <a:ln w="12700" cap="flat" cmpd="sng" algn="ctr">
            <a:solidFill>
              <a:srgbClr val="FFFFFF">
                <a:alpha val="6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AD1BF-6E2C-B867-D793-1D3E937BD549}"/>
              </a:ext>
            </a:extLst>
          </p:cNvPr>
          <p:cNvSpPr txBox="1"/>
          <p:nvPr/>
        </p:nvSpPr>
        <p:spPr>
          <a:xfrm>
            <a:off x="749300" y="6642100"/>
            <a:ext cx="1778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850" b="1">
                <a:solidFill>
                  <a:srgbClr val="FFFFFF"/>
                </a:solidFill>
                <a:latin typeface="Arial" panose="020B0604020202020204" pitchFamily="34" charset="0"/>
              </a:rPr>
              <a:t>КАТАЛОГ ИДЕЙ •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ED7F0-2608-56A7-D2BB-D422EAEE3AA0}"/>
              </a:ext>
            </a:extLst>
          </p:cNvPr>
          <p:cNvSpPr txBox="1"/>
          <p:nvPr/>
        </p:nvSpPr>
        <p:spPr>
          <a:xfrm>
            <a:off x="609600" y="7112000"/>
            <a:ext cx="6350000" cy="13234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4300" b="1">
                <a:solidFill>
                  <a:srgbClr val="FFFFFF"/>
                </a:solidFill>
                <a:latin typeface="Georgia" panose="02040502050405020303" pitchFamily="18" charset="0"/>
              </a:rPr>
              <a:t>Тренды фотозон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978C1-FEC6-CCE5-D87B-263CC0BF8563}"/>
              </a:ext>
            </a:extLst>
          </p:cNvPr>
          <p:cNvSpPr txBox="1"/>
          <p:nvPr/>
        </p:nvSpPr>
        <p:spPr>
          <a:xfrm>
            <a:off x="609600" y="8585200"/>
            <a:ext cx="5778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600">
                <a:solidFill>
                  <a:srgbClr val="E8E9EC"/>
                </a:solidFill>
                <a:latin typeface="Arial" panose="020B0604020202020204" pitchFamily="34" charset="0"/>
              </a:rPr>
              <a:t>Самые востребованные идеи оформления свадеб, юбилеев и детских праздников в 2026 году</a:t>
            </a:r>
            <a:endParaRPr lang="ru-BY" sz="1600">
              <a:solidFill>
                <a:srgbClr val="E8E9EC"/>
              </a:solidFill>
              <a:latin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0073F2E-110F-AE45-A751-689F73E123A6}"/>
              </a:ext>
            </a:extLst>
          </p:cNvPr>
          <p:cNvSpPr/>
          <p:nvPr/>
        </p:nvSpPr>
        <p:spPr>
          <a:xfrm>
            <a:off x="609600" y="10248900"/>
            <a:ext cx="6340856" cy="10160"/>
          </a:xfrm>
          <a:prstGeom prst="rect">
            <a:avLst/>
          </a:prstGeom>
          <a:solidFill>
            <a:srgbClr val="D2D4DA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EC2610-013C-9D60-5687-F066900A6398}"/>
              </a:ext>
            </a:extLst>
          </p:cNvPr>
          <p:cNvSpPr txBox="1"/>
          <p:nvPr/>
        </p:nvSpPr>
        <p:spPr>
          <a:xfrm>
            <a:off x="609600" y="10350500"/>
            <a:ext cx="5207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50">
                <a:solidFill>
                  <a:srgbClr val="D2D4DA"/>
                </a:solidFill>
                <a:latin typeface="Arial" panose="020B0604020202020204" pitchFamily="34" charset="0"/>
              </a:rPr>
              <a:t>LavDragon • Фотозоны и оформление мероприятий в Минске</a:t>
            </a:r>
            <a:endParaRPr lang="ru-BY" sz="850">
              <a:solidFill>
                <a:srgbClr val="D2D4DA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FE0973-C192-924D-5773-5297F875A944}"/>
              </a:ext>
            </a:extLst>
          </p:cNvPr>
          <p:cNvSpPr txBox="1"/>
          <p:nvPr/>
        </p:nvSpPr>
        <p:spPr>
          <a:xfrm>
            <a:off x="6632956" y="10350500"/>
            <a:ext cx="317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BY" sz="850" b="1">
                <a:solidFill>
                  <a:srgbClr val="D2D4DA"/>
                </a:solidFill>
                <a:latin typeface="Arial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53508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E220C2-C05C-065F-685E-11F3216EF47F}"/>
              </a:ext>
            </a:extLst>
          </p:cNvPr>
          <p:cNvSpPr/>
          <p:nvPr/>
        </p:nvSpPr>
        <p:spPr>
          <a:xfrm>
            <a:off x="0" y="0"/>
            <a:ext cx="7560056" cy="10692003"/>
          </a:xfrm>
          <a:prstGeom prst="rect">
            <a:avLst/>
          </a:prstGeom>
          <a:solidFill>
            <a:srgbClr val="F4F5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6D79B-E5FA-55D0-4F1D-59EFDE9D81AA}"/>
              </a:ext>
            </a:extLst>
          </p:cNvPr>
          <p:cNvSpPr txBox="1"/>
          <p:nvPr/>
        </p:nvSpPr>
        <p:spPr>
          <a:xfrm>
            <a:off x="609600" y="635000"/>
            <a:ext cx="622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900" b="1">
                <a:solidFill>
                  <a:srgbClr val="71618F"/>
                </a:solidFill>
                <a:latin typeface="Arial" panose="020B0604020202020204" pitchFamily="34" charset="0"/>
              </a:rPr>
              <a:t>СВАДЕБНЫЙ ТРЕНД №1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E5748-7C64-3666-7DE4-8330ACDA1F5A}"/>
              </a:ext>
            </a:extLst>
          </p:cNvPr>
          <p:cNvSpPr txBox="1"/>
          <p:nvPr/>
        </p:nvSpPr>
        <p:spPr>
          <a:xfrm>
            <a:off x="609600" y="977900"/>
            <a:ext cx="635000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2900" b="1">
                <a:solidFill>
                  <a:srgbClr val="08090D"/>
                </a:solidFill>
                <a:latin typeface="Georgia" panose="02040502050405020303" pitchFamily="18" charset="0"/>
              </a:rPr>
              <a:t>Натуральные цветочные композиции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7A157F4-D85C-3A55-9BF9-13CE32C17F7F}"/>
              </a:ext>
            </a:extLst>
          </p:cNvPr>
          <p:cNvSpPr/>
          <p:nvPr/>
        </p:nvSpPr>
        <p:spPr>
          <a:xfrm>
            <a:off x="609600" y="1892300"/>
            <a:ext cx="736600" cy="50800"/>
          </a:xfrm>
          <a:prstGeom prst="roundRect">
            <a:avLst/>
          </a:prstGeom>
          <a:solidFill>
            <a:srgbClr val="B9A7D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699C101-CD1E-2D64-786A-42FCD5326D0C}"/>
              </a:ext>
            </a:extLst>
          </p:cNvPr>
          <p:cNvSpPr/>
          <p:nvPr/>
        </p:nvSpPr>
        <p:spPr>
          <a:xfrm>
            <a:off x="609600" y="2235200"/>
            <a:ext cx="3175000" cy="5461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0BF3E9-D1BD-44F8-A37D-6D4D2B1BA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77" y="2235200"/>
            <a:ext cx="3073446" cy="5461000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2F5A7B1-E8B6-2662-86FA-349C354544B1}"/>
              </a:ext>
            </a:extLst>
          </p:cNvPr>
          <p:cNvSpPr/>
          <p:nvPr/>
        </p:nvSpPr>
        <p:spPr>
          <a:xfrm>
            <a:off x="4000500" y="2235200"/>
            <a:ext cx="2946400" cy="5461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A224BEF-2E02-1BDA-6F06-2D079A175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3001433"/>
            <a:ext cx="2946400" cy="39285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190206-9370-59DC-8BE0-8603495DA52C}"/>
              </a:ext>
            </a:extLst>
          </p:cNvPr>
          <p:cNvSpPr txBox="1"/>
          <p:nvPr/>
        </p:nvSpPr>
        <p:spPr>
          <a:xfrm>
            <a:off x="609600" y="8051800"/>
            <a:ext cx="63373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444952"/>
                </a:solidFill>
                <a:latin typeface="Arial" panose="020B0604020202020204" pitchFamily="34" charset="0"/>
              </a:rPr>
              <a:t>В 2026 году клиенты всё чаще выбирают воздушные композиции из живых и декоративных цветов в кремовых, бежевых и пудровых оттенках.</a:t>
            </a:r>
            <a:endParaRPr lang="ru-BY" sz="1350">
              <a:solidFill>
                <a:srgbClr val="444952"/>
              </a:solidFill>
              <a:latin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620512A-3C4E-407B-898B-65B31FF409FA}"/>
              </a:ext>
            </a:extLst>
          </p:cNvPr>
          <p:cNvSpPr/>
          <p:nvPr/>
        </p:nvSpPr>
        <p:spPr>
          <a:xfrm>
            <a:off x="609600" y="10248900"/>
            <a:ext cx="6340856" cy="10160"/>
          </a:xfrm>
          <a:prstGeom prst="rect">
            <a:avLst/>
          </a:prstGeom>
          <a:solidFill>
            <a:srgbClr val="666A73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55D804-70EF-11D4-5437-CF6DDD962036}"/>
              </a:ext>
            </a:extLst>
          </p:cNvPr>
          <p:cNvSpPr txBox="1"/>
          <p:nvPr/>
        </p:nvSpPr>
        <p:spPr>
          <a:xfrm>
            <a:off x="609600" y="10350500"/>
            <a:ext cx="5207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50">
                <a:solidFill>
                  <a:srgbClr val="666A73"/>
                </a:solidFill>
                <a:latin typeface="Arial" panose="020B0604020202020204" pitchFamily="34" charset="0"/>
              </a:rPr>
              <a:t>LavDragon • Фотозоны и оформление мероприятий в Минске</a:t>
            </a:r>
            <a:endParaRPr lang="ru-BY" sz="850">
              <a:solidFill>
                <a:srgbClr val="666A73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2C0D17-A00B-1924-6F76-21970FB1C20E}"/>
              </a:ext>
            </a:extLst>
          </p:cNvPr>
          <p:cNvSpPr txBox="1"/>
          <p:nvPr/>
        </p:nvSpPr>
        <p:spPr>
          <a:xfrm>
            <a:off x="6632956" y="10350500"/>
            <a:ext cx="317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BY" sz="850" b="1">
                <a:solidFill>
                  <a:srgbClr val="666A73"/>
                </a:solidFill>
                <a:latin typeface="Arial" panose="020B06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7648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649FB3B-C7AF-8CB7-9000-499C71BE7E17}"/>
              </a:ext>
            </a:extLst>
          </p:cNvPr>
          <p:cNvSpPr/>
          <p:nvPr/>
        </p:nvSpPr>
        <p:spPr>
          <a:xfrm>
            <a:off x="0" y="0"/>
            <a:ext cx="7560056" cy="10692003"/>
          </a:xfrm>
          <a:prstGeom prst="rect">
            <a:avLst/>
          </a:prstGeom>
          <a:solidFill>
            <a:srgbClr val="08090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D08E0-360D-5EF5-DF2C-1F87770A4B50}"/>
              </a:ext>
            </a:extLst>
          </p:cNvPr>
          <p:cNvSpPr txBox="1"/>
          <p:nvPr/>
        </p:nvSpPr>
        <p:spPr>
          <a:xfrm>
            <a:off x="609600" y="635000"/>
            <a:ext cx="622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900" b="1">
                <a:solidFill>
                  <a:srgbClr val="CDC0E2"/>
                </a:solidFill>
                <a:latin typeface="Arial" panose="020B0604020202020204" pitchFamily="34" charset="0"/>
              </a:rPr>
              <a:t>ПРАЗДНИЧНОЕ ОФОРМЛЕНИЕ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7BE2A-B619-F57D-3E2F-0D7F20EC8698}"/>
              </a:ext>
            </a:extLst>
          </p:cNvPr>
          <p:cNvSpPr txBox="1"/>
          <p:nvPr/>
        </p:nvSpPr>
        <p:spPr>
          <a:xfrm>
            <a:off x="609600" y="977900"/>
            <a:ext cx="635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2900" b="1">
                <a:solidFill>
                  <a:srgbClr val="F4F5F7"/>
                </a:solidFill>
                <a:latin typeface="Georgia" panose="02040502050405020303" pitchFamily="18" charset="0"/>
              </a:rPr>
              <a:t>Юбилеи и дни рождения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728B913-E208-6DA4-14E0-798BD6FA6650}"/>
              </a:ext>
            </a:extLst>
          </p:cNvPr>
          <p:cNvSpPr/>
          <p:nvPr/>
        </p:nvSpPr>
        <p:spPr>
          <a:xfrm>
            <a:off x="609600" y="1892300"/>
            <a:ext cx="736600" cy="50800"/>
          </a:xfrm>
          <a:prstGeom prst="roundRect">
            <a:avLst/>
          </a:prstGeom>
          <a:solidFill>
            <a:srgbClr val="B9A7D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4938C25-510C-8BCC-C81A-EF40187E3F00}"/>
              </a:ext>
            </a:extLst>
          </p:cNvPr>
          <p:cNvSpPr/>
          <p:nvPr/>
        </p:nvSpPr>
        <p:spPr>
          <a:xfrm>
            <a:off x="609600" y="2184400"/>
            <a:ext cx="6337300" cy="2946400"/>
          </a:xfrm>
          <a:prstGeom prst="roundRect">
            <a:avLst/>
          </a:prstGeom>
          <a:solidFill>
            <a:srgbClr val="191B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C10D7F-1210-091D-3CFE-65B8FF3FD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2184400"/>
            <a:ext cx="2946400" cy="2946400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D91614C-4D5E-BDE2-88EA-5D50451B1218}"/>
              </a:ext>
            </a:extLst>
          </p:cNvPr>
          <p:cNvSpPr/>
          <p:nvPr/>
        </p:nvSpPr>
        <p:spPr>
          <a:xfrm>
            <a:off x="609600" y="5334000"/>
            <a:ext cx="6337300" cy="2946400"/>
          </a:xfrm>
          <a:prstGeom prst="roundRect">
            <a:avLst/>
          </a:prstGeom>
          <a:solidFill>
            <a:srgbClr val="191B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350DBC0-5E63-FE9E-D1F5-C54F3E6C4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321" y="5334000"/>
            <a:ext cx="4047858" cy="2946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D010B3-A0D6-33AB-19F3-1A6AB8401BD6}"/>
              </a:ext>
            </a:extLst>
          </p:cNvPr>
          <p:cNvSpPr txBox="1"/>
          <p:nvPr/>
        </p:nvSpPr>
        <p:spPr>
          <a:xfrm>
            <a:off x="609600" y="8559800"/>
            <a:ext cx="63373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CDD0D6"/>
                </a:solidFill>
                <a:latin typeface="Arial" panose="020B0604020202020204" pitchFamily="34" charset="0"/>
              </a:rPr>
              <a:t>Основной тренд — сочетание крупных декоративных элементов, персонализированных надписей и современной геометрии.</a:t>
            </a:r>
            <a:endParaRPr lang="ru-BY" sz="1350">
              <a:solidFill>
                <a:srgbClr val="CDD0D6"/>
              </a:solidFill>
              <a:latin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5A4479B-05CC-F223-08F5-7C5741282CF2}"/>
              </a:ext>
            </a:extLst>
          </p:cNvPr>
          <p:cNvSpPr/>
          <p:nvPr/>
        </p:nvSpPr>
        <p:spPr>
          <a:xfrm>
            <a:off x="609600" y="10248900"/>
            <a:ext cx="6340856" cy="10160"/>
          </a:xfrm>
          <a:prstGeom prst="rect">
            <a:avLst/>
          </a:prstGeom>
          <a:solidFill>
            <a:srgbClr val="D2D4DA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60C862-F1FB-7B6F-0ABB-7C84B9E54771}"/>
              </a:ext>
            </a:extLst>
          </p:cNvPr>
          <p:cNvSpPr txBox="1"/>
          <p:nvPr/>
        </p:nvSpPr>
        <p:spPr>
          <a:xfrm>
            <a:off x="609600" y="10350500"/>
            <a:ext cx="5207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50">
                <a:solidFill>
                  <a:srgbClr val="D2D4DA"/>
                </a:solidFill>
                <a:latin typeface="Arial" panose="020B0604020202020204" pitchFamily="34" charset="0"/>
              </a:rPr>
              <a:t>LavDragon • Фотозоны и оформление мероприятий в Минске</a:t>
            </a:r>
            <a:endParaRPr lang="ru-BY" sz="850">
              <a:solidFill>
                <a:srgbClr val="D2D4DA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A674CD-F032-DE44-7B6F-75FD12BFEAB4}"/>
              </a:ext>
            </a:extLst>
          </p:cNvPr>
          <p:cNvSpPr txBox="1"/>
          <p:nvPr/>
        </p:nvSpPr>
        <p:spPr>
          <a:xfrm>
            <a:off x="6632956" y="10350500"/>
            <a:ext cx="317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BY" sz="850" b="1">
                <a:solidFill>
                  <a:srgbClr val="D2D4DA"/>
                </a:solidFill>
                <a:latin typeface="Arial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7175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852BED8-A82D-016F-4F46-6577BEAB8115}"/>
              </a:ext>
            </a:extLst>
          </p:cNvPr>
          <p:cNvSpPr/>
          <p:nvPr/>
        </p:nvSpPr>
        <p:spPr>
          <a:xfrm>
            <a:off x="0" y="0"/>
            <a:ext cx="7560056" cy="10692003"/>
          </a:xfrm>
          <a:prstGeom prst="rect">
            <a:avLst/>
          </a:prstGeom>
          <a:solidFill>
            <a:srgbClr val="F4F5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430C6-C8E8-A269-9223-56E759687AB1}"/>
              </a:ext>
            </a:extLst>
          </p:cNvPr>
          <p:cNvSpPr txBox="1"/>
          <p:nvPr/>
        </p:nvSpPr>
        <p:spPr>
          <a:xfrm>
            <a:off x="609600" y="635000"/>
            <a:ext cx="622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71618F"/>
                </a:solidFill>
                <a:latin typeface="Arial" panose="020B0604020202020204" pitchFamily="34" charset="0"/>
              </a:rPr>
              <a:t>PINTEREST-</a:t>
            </a:r>
            <a:r>
              <a:rPr lang="ru-BY" sz="900" b="1">
                <a:solidFill>
                  <a:srgbClr val="71618F"/>
                </a:solidFill>
                <a:latin typeface="Arial" panose="020B0604020202020204" pitchFamily="34" charset="0"/>
              </a:rPr>
              <a:t>ЭСТЕТИКА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B7D333-C69B-D2F4-C983-E93F70FF9096}"/>
              </a:ext>
            </a:extLst>
          </p:cNvPr>
          <p:cNvSpPr txBox="1"/>
          <p:nvPr/>
        </p:nvSpPr>
        <p:spPr>
          <a:xfrm>
            <a:off x="609600" y="977900"/>
            <a:ext cx="635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2900" b="1">
                <a:solidFill>
                  <a:srgbClr val="08090D"/>
                </a:solidFill>
                <a:latin typeface="Georgia" panose="02040502050405020303" pitchFamily="18" charset="0"/>
              </a:rPr>
              <a:t>Детские фотозоны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8EBA530-FCA9-602A-1E68-3CE2771C0054}"/>
              </a:ext>
            </a:extLst>
          </p:cNvPr>
          <p:cNvSpPr/>
          <p:nvPr/>
        </p:nvSpPr>
        <p:spPr>
          <a:xfrm>
            <a:off x="609600" y="1892300"/>
            <a:ext cx="736600" cy="50800"/>
          </a:xfrm>
          <a:prstGeom prst="roundRect">
            <a:avLst/>
          </a:prstGeom>
          <a:solidFill>
            <a:srgbClr val="B9A7D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0A54A36-BA12-7540-5735-47EA511FA786}"/>
              </a:ext>
            </a:extLst>
          </p:cNvPr>
          <p:cNvSpPr/>
          <p:nvPr/>
        </p:nvSpPr>
        <p:spPr>
          <a:xfrm>
            <a:off x="609600" y="2184400"/>
            <a:ext cx="6337300" cy="2946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E245160-9741-B28D-0238-EF8119339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137" y="2184400"/>
            <a:ext cx="3928227" cy="2946400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E1D2E21-E409-45FF-EDFE-5C5A12AA19F4}"/>
              </a:ext>
            </a:extLst>
          </p:cNvPr>
          <p:cNvSpPr/>
          <p:nvPr/>
        </p:nvSpPr>
        <p:spPr>
          <a:xfrm>
            <a:off x="609600" y="5334000"/>
            <a:ext cx="6337300" cy="2946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16D0050-F053-EE2E-94CE-2BD738F79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983" y="5334000"/>
            <a:ext cx="3928534" cy="2946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F622E8-98F6-7258-C597-D69E56C9D08D}"/>
              </a:ext>
            </a:extLst>
          </p:cNvPr>
          <p:cNvSpPr txBox="1"/>
          <p:nvPr/>
        </p:nvSpPr>
        <p:spPr>
          <a:xfrm>
            <a:off x="609600" y="8559800"/>
            <a:ext cx="63373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444952"/>
                </a:solidFill>
                <a:latin typeface="Arial" panose="020B0604020202020204" pitchFamily="34" charset="0"/>
              </a:rPr>
              <a:t>Популярность продолжают набирать Pinterest-фотозоны в мягких оттенках и с минималистичным оформлением.</a:t>
            </a:r>
            <a:endParaRPr lang="ru-BY" sz="1350">
              <a:solidFill>
                <a:srgbClr val="444952"/>
              </a:solidFill>
              <a:latin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FEE359C-B2BB-B25F-48B0-5ED4183768DB}"/>
              </a:ext>
            </a:extLst>
          </p:cNvPr>
          <p:cNvSpPr/>
          <p:nvPr/>
        </p:nvSpPr>
        <p:spPr>
          <a:xfrm>
            <a:off x="609600" y="10248900"/>
            <a:ext cx="6340856" cy="10160"/>
          </a:xfrm>
          <a:prstGeom prst="rect">
            <a:avLst/>
          </a:prstGeom>
          <a:solidFill>
            <a:srgbClr val="666A73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A87F1A-D9D3-E02A-C082-F642BAB5A533}"/>
              </a:ext>
            </a:extLst>
          </p:cNvPr>
          <p:cNvSpPr txBox="1"/>
          <p:nvPr/>
        </p:nvSpPr>
        <p:spPr>
          <a:xfrm>
            <a:off x="609600" y="10350500"/>
            <a:ext cx="5207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50">
                <a:solidFill>
                  <a:srgbClr val="666A73"/>
                </a:solidFill>
                <a:latin typeface="Arial" panose="020B0604020202020204" pitchFamily="34" charset="0"/>
              </a:rPr>
              <a:t>LavDragon • Фотозоны и оформление мероприятий в Минске</a:t>
            </a:r>
            <a:endParaRPr lang="ru-BY" sz="850">
              <a:solidFill>
                <a:srgbClr val="666A73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22D0E9-7B35-DC2E-C2DD-5715D0F08290}"/>
              </a:ext>
            </a:extLst>
          </p:cNvPr>
          <p:cNvSpPr txBox="1"/>
          <p:nvPr/>
        </p:nvSpPr>
        <p:spPr>
          <a:xfrm>
            <a:off x="6632956" y="10350500"/>
            <a:ext cx="317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BY" sz="850" b="1">
                <a:solidFill>
                  <a:srgbClr val="666A73"/>
                </a:solidFill>
                <a:latin typeface="Arial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36659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4119A4-4631-9E33-B65A-549A5C3D3E20}"/>
              </a:ext>
            </a:extLst>
          </p:cNvPr>
          <p:cNvSpPr txBox="1"/>
          <p:nvPr/>
        </p:nvSpPr>
        <p:spPr>
          <a:xfrm>
            <a:off x="609600" y="635000"/>
            <a:ext cx="622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900" b="1">
                <a:solidFill>
                  <a:srgbClr val="71618F"/>
                </a:solidFill>
                <a:latin typeface="Arial" panose="020B0604020202020204" pitchFamily="34" charset="0"/>
              </a:rPr>
              <a:t>ПАЛИТРА СЕЗОНА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21206-F133-A6B3-4359-9E9CBB9E88B4}"/>
              </a:ext>
            </a:extLst>
          </p:cNvPr>
          <p:cNvSpPr txBox="1"/>
          <p:nvPr/>
        </p:nvSpPr>
        <p:spPr>
          <a:xfrm>
            <a:off x="609600" y="977900"/>
            <a:ext cx="635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2900" b="1">
                <a:solidFill>
                  <a:srgbClr val="08090D"/>
                </a:solidFill>
                <a:latin typeface="Georgia" panose="02040502050405020303" pitchFamily="18" charset="0"/>
              </a:rPr>
              <a:t>Трендовые цвета 2026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5DC5A60-762E-6E3A-F946-E9F8B715D12E}"/>
              </a:ext>
            </a:extLst>
          </p:cNvPr>
          <p:cNvSpPr/>
          <p:nvPr/>
        </p:nvSpPr>
        <p:spPr>
          <a:xfrm>
            <a:off x="609600" y="2032000"/>
            <a:ext cx="6337300" cy="279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3F8EADF-79F0-7DC3-01B9-D401E29BB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583" y="2032000"/>
            <a:ext cx="3725333" cy="279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A5FF8D-B6E5-8F30-3634-4C2EA7F9A996}"/>
              </a:ext>
            </a:extLst>
          </p:cNvPr>
          <p:cNvSpPr txBox="1"/>
          <p:nvPr/>
        </p:nvSpPr>
        <p:spPr>
          <a:xfrm>
            <a:off x="609600" y="4953000"/>
            <a:ext cx="3111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1700" b="1">
                <a:solidFill>
                  <a:srgbClr val="08090D"/>
                </a:solidFill>
                <a:latin typeface="Georgia" panose="02040502050405020303" pitchFamily="18" charset="0"/>
              </a:rPr>
              <a:t>Пудрово-розовый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D12260D-5449-C897-1680-22B24E128C3B}"/>
              </a:ext>
            </a:extLst>
          </p:cNvPr>
          <p:cNvSpPr/>
          <p:nvPr/>
        </p:nvSpPr>
        <p:spPr>
          <a:xfrm>
            <a:off x="609600" y="5562600"/>
            <a:ext cx="6337300" cy="279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78375CE-5753-C532-E60E-F1B50760A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746" y="5562600"/>
            <a:ext cx="4245008" cy="2794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854956-CA1B-76FE-5FC2-F22D678A7724}"/>
              </a:ext>
            </a:extLst>
          </p:cNvPr>
          <p:cNvSpPr txBox="1"/>
          <p:nvPr/>
        </p:nvSpPr>
        <p:spPr>
          <a:xfrm>
            <a:off x="609600" y="8483600"/>
            <a:ext cx="3111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1700" b="1">
                <a:solidFill>
                  <a:srgbClr val="08090D"/>
                </a:solidFill>
                <a:latin typeface="Georgia" panose="02040502050405020303" pitchFamily="18" charset="0"/>
              </a:rPr>
              <a:t>Бежево-песочный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525772-9150-C1F9-5DA4-C40E1F46EAC2}"/>
              </a:ext>
            </a:extLst>
          </p:cNvPr>
          <p:cNvSpPr txBox="1"/>
          <p:nvPr/>
        </p:nvSpPr>
        <p:spPr>
          <a:xfrm>
            <a:off x="609600" y="9067800"/>
            <a:ext cx="63373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444952"/>
                </a:solidFill>
                <a:latin typeface="Arial" panose="020B0604020202020204" pitchFamily="34" charset="0"/>
              </a:rPr>
              <a:t>Эти оттенки выглядят дорого на фотографиях и подходят практически для любого формата мероприятия.</a:t>
            </a:r>
            <a:endParaRPr lang="ru-BY" sz="1350">
              <a:solidFill>
                <a:srgbClr val="444952"/>
              </a:solidFill>
              <a:latin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6A9AF9A-66A0-E80A-7E42-778D95364F07}"/>
              </a:ext>
            </a:extLst>
          </p:cNvPr>
          <p:cNvSpPr/>
          <p:nvPr/>
        </p:nvSpPr>
        <p:spPr>
          <a:xfrm>
            <a:off x="609600" y="10248900"/>
            <a:ext cx="6340856" cy="10160"/>
          </a:xfrm>
          <a:prstGeom prst="rect">
            <a:avLst/>
          </a:prstGeom>
          <a:solidFill>
            <a:srgbClr val="666A73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9E673C-8FAA-7FC9-BAA6-5A83CA2610A3}"/>
              </a:ext>
            </a:extLst>
          </p:cNvPr>
          <p:cNvSpPr txBox="1"/>
          <p:nvPr/>
        </p:nvSpPr>
        <p:spPr>
          <a:xfrm>
            <a:off x="609600" y="10350500"/>
            <a:ext cx="5207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50">
                <a:solidFill>
                  <a:srgbClr val="666A73"/>
                </a:solidFill>
                <a:latin typeface="Arial" panose="020B0604020202020204" pitchFamily="34" charset="0"/>
              </a:rPr>
              <a:t>LavDragon • Фотозоны и оформление мероприятий в Минске</a:t>
            </a:r>
            <a:endParaRPr lang="ru-BY" sz="850">
              <a:solidFill>
                <a:srgbClr val="666A73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DCE609-7B85-0DB9-4A2E-CDD9F1EAA956}"/>
              </a:ext>
            </a:extLst>
          </p:cNvPr>
          <p:cNvSpPr txBox="1"/>
          <p:nvPr/>
        </p:nvSpPr>
        <p:spPr>
          <a:xfrm>
            <a:off x="6632956" y="10350500"/>
            <a:ext cx="317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BY" sz="850" b="1">
                <a:solidFill>
                  <a:srgbClr val="666A73"/>
                </a:solidFill>
                <a:latin typeface="Arial" panose="020B06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1763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40A83C1-7F09-2EFA-AF11-D918E2CA1665}"/>
              </a:ext>
            </a:extLst>
          </p:cNvPr>
          <p:cNvSpPr/>
          <p:nvPr/>
        </p:nvSpPr>
        <p:spPr>
          <a:xfrm>
            <a:off x="0" y="0"/>
            <a:ext cx="7560056" cy="10692003"/>
          </a:xfrm>
          <a:prstGeom prst="rect">
            <a:avLst/>
          </a:prstGeom>
          <a:solidFill>
            <a:srgbClr val="08090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6676C-9003-6C71-164B-BE1175CB104A}"/>
              </a:ext>
            </a:extLst>
          </p:cNvPr>
          <p:cNvSpPr txBox="1"/>
          <p:nvPr/>
        </p:nvSpPr>
        <p:spPr>
          <a:xfrm>
            <a:off x="609600" y="635000"/>
            <a:ext cx="622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900" b="1">
                <a:solidFill>
                  <a:srgbClr val="CDC0E2"/>
                </a:solidFill>
                <a:latin typeface="Arial" panose="020B0604020202020204" pitchFamily="34" charset="0"/>
              </a:rPr>
              <a:t>ВЕЧЕРНИЕ МЕРОПРИЯТИЯ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7DCAE-2297-E69C-8681-53B9BCA4B98B}"/>
              </a:ext>
            </a:extLst>
          </p:cNvPr>
          <p:cNvSpPr txBox="1"/>
          <p:nvPr/>
        </p:nvSpPr>
        <p:spPr>
          <a:xfrm>
            <a:off x="609600" y="977900"/>
            <a:ext cx="635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2900" b="1">
                <a:solidFill>
                  <a:srgbClr val="F4F5F7"/>
                </a:solidFill>
                <a:latin typeface="Georgia" panose="02040502050405020303" pitchFamily="18" charset="0"/>
              </a:rPr>
              <a:t>Подсветка и неон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9A6F53A-5642-B2C1-AA36-F98A186E16E5}"/>
              </a:ext>
            </a:extLst>
          </p:cNvPr>
          <p:cNvSpPr/>
          <p:nvPr/>
        </p:nvSpPr>
        <p:spPr>
          <a:xfrm>
            <a:off x="609600" y="1892300"/>
            <a:ext cx="736600" cy="50800"/>
          </a:xfrm>
          <a:prstGeom prst="roundRect">
            <a:avLst/>
          </a:prstGeom>
          <a:solidFill>
            <a:srgbClr val="B9A7D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5EC446C-D123-F1EE-BB86-B453A177C4FC}"/>
              </a:ext>
            </a:extLst>
          </p:cNvPr>
          <p:cNvSpPr/>
          <p:nvPr/>
        </p:nvSpPr>
        <p:spPr>
          <a:xfrm>
            <a:off x="609600" y="2235200"/>
            <a:ext cx="2603500" cy="5461000"/>
          </a:xfrm>
          <a:prstGeom prst="roundRect">
            <a:avLst/>
          </a:prstGeom>
          <a:solidFill>
            <a:srgbClr val="191B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90885C4-9C28-817A-5182-F3A1FBD15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226034"/>
            <a:ext cx="2603500" cy="3479332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02B09BE-A568-9096-0F39-702C3BBF955A}"/>
              </a:ext>
            </a:extLst>
          </p:cNvPr>
          <p:cNvSpPr/>
          <p:nvPr/>
        </p:nvSpPr>
        <p:spPr>
          <a:xfrm>
            <a:off x="3429000" y="3175000"/>
            <a:ext cx="3517900" cy="3581400"/>
          </a:xfrm>
          <a:prstGeom prst="roundRect">
            <a:avLst/>
          </a:prstGeom>
          <a:solidFill>
            <a:srgbClr val="191B2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1F0F196-4477-F8EC-E9D3-826F13101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3558038"/>
            <a:ext cx="3517900" cy="28153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B13BA4-9B33-1FC2-3AC4-BF68264C0789}"/>
              </a:ext>
            </a:extLst>
          </p:cNvPr>
          <p:cNvSpPr txBox="1"/>
          <p:nvPr/>
        </p:nvSpPr>
        <p:spPr>
          <a:xfrm>
            <a:off x="609600" y="8051800"/>
            <a:ext cx="63373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50">
                <a:solidFill>
                  <a:srgbClr val="CDD0D6"/>
                </a:solidFill>
                <a:latin typeface="Arial" panose="020B0604020202020204" pitchFamily="34" charset="0"/>
              </a:rPr>
              <a:t>Неоновые надписи, светящиеся цифры и контурная подсветка остаются одним из самых востребованных решений для вечерних мероприятий.</a:t>
            </a:r>
            <a:endParaRPr lang="ru-BY" sz="1350">
              <a:solidFill>
                <a:srgbClr val="CDD0D6"/>
              </a:solidFill>
              <a:latin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3FD6331-3CEC-95BF-D14B-4B676727DE15}"/>
              </a:ext>
            </a:extLst>
          </p:cNvPr>
          <p:cNvSpPr/>
          <p:nvPr/>
        </p:nvSpPr>
        <p:spPr>
          <a:xfrm>
            <a:off x="609600" y="10248900"/>
            <a:ext cx="6340856" cy="10160"/>
          </a:xfrm>
          <a:prstGeom prst="rect">
            <a:avLst/>
          </a:prstGeom>
          <a:solidFill>
            <a:srgbClr val="D2D4DA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42AFE-6968-106B-E5E7-F4362E435344}"/>
              </a:ext>
            </a:extLst>
          </p:cNvPr>
          <p:cNvSpPr txBox="1"/>
          <p:nvPr/>
        </p:nvSpPr>
        <p:spPr>
          <a:xfrm>
            <a:off x="609600" y="10350500"/>
            <a:ext cx="5207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50">
                <a:solidFill>
                  <a:srgbClr val="D2D4DA"/>
                </a:solidFill>
                <a:latin typeface="Arial" panose="020B0604020202020204" pitchFamily="34" charset="0"/>
              </a:rPr>
              <a:t>LavDragon • Фотозоны и оформление мероприятий в Минске</a:t>
            </a:r>
            <a:endParaRPr lang="ru-BY" sz="850">
              <a:solidFill>
                <a:srgbClr val="D2D4DA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E9656F-1595-8F98-9391-1897383AC593}"/>
              </a:ext>
            </a:extLst>
          </p:cNvPr>
          <p:cNvSpPr txBox="1"/>
          <p:nvPr/>
        </p:nvSpPr>
        <p:spPr>
          <a:xfrm>
            <a:off x="6632956" y="10350500"/>
            <a:ext cx="317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BY" sz="850" b="1">
                <a:solidFill>
                  <a:srgbClr val="D2D4DA"/>
                </a:solidFill>
                <a:latin typeface="Arial" panose="020B06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8348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CE68BA-656D-62D7-4B40-2027F76A592F}"/>
              </a:ext>
            </a:extLst>
          </p:cNvPr>
          <p:cNvSpPr txBox="1"/>
          <p:nvPr/>
        </p:nvSpPr>
        <p:spPr>
          <a:xfrm>
            <a:off x="609600" y="635000"/>
            <a:ext cx="622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900" b="1">
                <a:solidFill>
                  <a:srgbClr val="71618F"/>
                </a:solidFill>
                <a:latin typeface="Arial" panose="020B0604020202020204" pitchFamily="34" charset="0"/>
              </a:rPr>
              <a:t>ДЕТАЛИ СО СМЫСЛОМ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5260A-E0A5-1BB7-C178-725D9F88E66C}"/>
              </a:ext>
            </a:extLst>
          </p:cNvPr>
          <p:cNvSpPr txBox="1"/>
          <p:nvPr/>
        </p:nvSpPr>
        <p:spPr>
          <a:xfrm>
            <a:off x="609600" y="977900"/>
            <a:ext cx="635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2900" b="1">
                <a:solidFill>
                  <a:srgbClr val="08090D"/>
                </a:solidFill>
                <a:latin typeface="Georgia" panose="02040502050405020303" pitchFamily="18" charset="0"/>
              </a:rPr>
              <a:t>Персонализация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9F23DE1-8F5B-9CD6-436A-B5EB8AC5D252}"/>
              </a:ext>
            </a:extLst>
          </p:cNvPr>
          <p:cNvSpPr/>
          <p:nvPr/>
        </p:nvSpPr>
        <p:spPr>
          <a:xfrm>
            <a:off x="609600" y="2159000"/>
            <a:ext cx="6337300" cy="4749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22CBD13-426A-1128-3D41-219E5972F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17" y="2159000"/>
            <a:ext cx="6333067" cy="474980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9C165C1-6E96-5D4B-936B-56754A24F171}"/>
              </a:ext>
            </a:extLst>
          </p:cNvPr>
          <p:cNvSpPr/>
          <p:nvPr/>
        </p:nvSpPr>
        <p:spPr>
          <a:xfrm>
            <a:off x="609600" y="7239000"/>
            <a:ext cx="63373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DC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6E2A08-9A15-2925-9474-93A06101EF82}"/>
              </a:ext>
            </a:extLst>
          </p:cNvPr>
          <p:cNvSpPr txBox="1"/>
          <p:nvPr/>
        </p:nvSpPr>
        <p:spPr>
          <a:xfrm>
            <a:off x="889000" y="7518400"/>
            <a:ext cx="577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b="1">
                <a:solidFill>
                  <a:srgbClr val="08090D"/>
                </a:solidFill>
                <a:latin typeface="Georgia" panose="02040502050405020303" pitchFamily="18" charset="0"/>
              </a:rPr>
              <a:t>История вашего события — в каждой детали</a:t>
            </a:r>
            <a:endParaRPr lang="ru-BY" b="1">
              <a:solidFill>
                <a:srgbClr val="08090D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732EA-8DC8-F660-3506-FF1F8590A4B1}"/>
              </a:ext>
            </a:extLst>
          </p:cNvPr>
          <p:cNvSpPr txBox="1"/>
          <p:nvPr/>
        </p:nvSpPr>
        <p:spPr>
          <a:xfrm>
            <a:off x="889000" y="8153400"/>
            <a:ext cx="5778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50">
                <a:solidFill>
                  <a:srgbClr val="666A73"/>
                </a:solidFill>
                <a:latin typeface="Arial" panose="020B0604020202020204" pitchFamily="34" charset="0"/>
              </a:rPr>
              <a:t>Индивидуальные надписи, имена, даты, монограммы и фирменные элементы помогают сделать оформление уникальным.</a:t>
            </a:r>
            <a:endParaRPr lang="ru-BY" sz="1150">
              <a:solidFill>
                <a:srgbClr val="666A73"/>
              </a:solidFill>
              <a:latin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67F5F2-3924-6FE2-5D3C-1D45850285CF}"/>
              </a:ext>
            </a:extLst>
          </p:cNvPr>
          <p:cNvSpPr/>
          <p:nvPr/>
        </p:nvSpPr>
        <p:spPr>
          <a:xfrm>
            <a:off x="609600" y="10248900"/>
            <a:ext cx="6340856" cy="10160"/>
          </a:xfrm>
          <a:prstGeom prst="rect">
            <a:avLst/>
          </a:prstGeom>
          <a:solidFill>
            <a:srgbClr val="666A73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5A2385-2D31-C001-B0AD-049EA55B1AA6}"/>
              </a:ext>
            </a:extLst>
          </p:cNvPr>
          <p:cNvSpPr txBox="1"/>
          <p:nvPr/>
        </p:nvSpPr>
        <p:spPr>
          <a:xfrm>
            <a:off x="609600" y="10350500"/>
            <a:ext cx="5207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50">
                <a:solidFill>
                  <a:srgbClr val="666A73"/>
                </a:solidFill>
                <a:latin typeface="Arial" panose="020B0604020202020204" pitchFamily="34" charset="0"/>
              </a:rPr>
              <a:t>LavDragon • Фотозоны и оформление мероприятий в Минске</a:t>
            </a:r>
            <a:endParaRPr lang="ru-BY" sz="850">
              <a:solidFill>
                <a:srgbClr val="666A73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D91F01-318F-CF10-CF8D-FEE5EBF2F8CC}"/>
              </a:ext>
            </a:extLst>
          </p:cNvPr>
          <p:cNvSpPr txBox="1"/>
          <p:nvPr/>
        </p:nvSpPr>
        <p:spPr>
          <a:xfrm>
            <a:off x="6632956" y="10350500"/>
            <a:ext cx="317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BY" sz="850" b="1">
                <a:solidFill>
                  <a:srgbClr val="666A73"/>
                </a:solidFill>
                <a:latin typeface="Arial" panose="020B06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78698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D7A7BD-FF9B-0422-ED6F-2D3FCF80B717}"/>
              </a:ext>
            </a:extLst>
          </p:cNvPr>
          <p:cNvSpPr txBox="1"/>
          <p:nvPr/>
        </p:nvSpPr>
        <p:spPr>
          <a:xfrm>
            <a:off x="609600" y="635000"/>
            <a:ext cx="622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900" b="1">
                <a:solidFill>
                  <a:srgbClr val="71618F"/>
                </a:solidFill>
                <a:latin typeface="Arial" panose="020B0604020202020204" pitchFamily="34" charset="0"/>
              </a:rPr>
              <a:t>КОРОТКИЙ ГИД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BB9CA3-52A5-4BF1-FFAC-E440B218CA86}"/>
              </a:ext>
            </a:extLst>
          </p:cNvPr>
          <p:cNvSpPr txBox="1"/>
          <p:nvPr/>
        </p:nvSpPr>
        <p:spPr>
          <a:xfrm>
            <a:off x="609600" y="977900"/>
            <a:ext cx="635000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2900" b="1">
                <a:solidFill>
                  <a:srgbClr val="08090D"/>
                </a:solidFill>
                <a:latin typeface="Georgia" panose="02040502050405020303" pitchFamily="18" charset="0"/>
              </a:rPr>
              <a:t>Как выбрать фотозону для своего праздника</a:t>
            </a:r>
            <a:endParaRPr lang="ru-BY" sz="2900" b="1">
              <a:solidFill>
                <a:srgbClr val="08090D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19C6EC-43C6-8914-F4EE-C90B586AD48E}"/>
              </a:ext>
            </a:extLst>
          </p:cNvPr>
          <p:cNvSpPr txBox="1"/>
          <p:nvPr/>
        </p:nvSpPr>
        <p:spPr>
          <a:xfrm>
            <a:off x="609600" y="2032000"/>
            <a:ext cx="622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00">
                <a:solidFill>
                  <a:srgbClr val="666A73"/>
                </a:solidFill>
                <a:latin typeface="Arial" panose="020B0604020202020204" pitchFamily="34" charset="0"/>
              </a:rPr>
              <a:t>Начните с формата события, пространства площадки и настроения, которое хочется сохранить на фотографиях.</a:t>
            </a:r>
            <a:endParaRPr lang="ru-BY" sz="1300">
              <a:solidFill>
                <a:srgbClr val="666A73"/>
              </a:solidFill>
              <a:latin typeface="Arial" panose="020B060402020202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7AC6500-1C93-5C25-A80B-C410D5F07272}"/>
              </a:ext>
            </a:extLst>
          </p:cNvPr>
          <p:cNvSpPr/>
          <p:nvPr/>
        </p:nvSpPr>
        <p:spPr>
          <a:xfrm>
            <a:off x="609600" y="3111500"/>
            <a:ext cx="3073400" cy="2413000"/>
          </a:xfrm>
          <a:prstGeom prst="roundRect">
            <a:avLst/>
          </a:prstGeom>
          <a:solidFill>
            <a:srgbClr val="FFFFFF"/>
          </a:solidFill>
          <a:ln>
            <a:solidFill>
              <a:srgbClr val="E0E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D86C218F-2D17-3710-D947-9E7BBD3FC9D6}"/>
              </a:ext>
            </a:extLst>
          </p:cNvPr>
          <p:cNvSpPr/>
          <p:nvPr/>
        </p:nvSpPr>
        <p:spPr>
          <a:xfrm>
            <a:off x="889000" y="3390900"/>
            <a:ext cx="482600" cy="482600"/>
          </a:xfrm>
          <a:prstGeom prst="ellipse">
            <a:avLst/>
          </a:prstGeom>
          <a:solidFill>
            <a:srgbClr val="D9D1E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C214B-B525-777A-B014-80D8DA1340CF}"/>
              </a:ext>
            </a:extLst>
          </p:cNvPr>
          <p:cNvSpPr txBox="1"/>
          <p:nvPr/>
        </p:nvSpPr>
        <p:spPr>
          <a:xfrm>
            <a:off x="889000" y="35306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BY" sz="900" b="1">
                <a:solidFill>
                  <a:srgbClr val="08090D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15A0A-6B1E-95FE-384D-C5F06DC0296B}"/>
              </a:ext>
            </a:extLst>
          </p:cNvPr>
          <p:cNvSpPr txBox="1"/>
          <p:nvPr/>
        </p:nvSpPr>
        <p:spPr>
          <a:xfrm>
            <a:off x="889000" y="4165600"/>
            <a:ext cx="2476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1900" b="1">
                <a:solidFill>
                  <a:srgbClr val="08090D"/>
                </a:solidFill>
                <a:latin typeface="Georgia" panose="02040502050405020303" pitchFamily="18" charset="0"/>
              </a:rPr>
              <a:t>Свадьба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76D0C9-2A36-232F-4E5F-CA30C6E8C306}"/>
              </a:ext>
            </a:extLst>
          </p:cNvPr>
          <p:cNvSpPr txBox="1"/>
          <p:nvPr/>
        </p:nvSpPr>
        <p:spPr>
          <a:xfrm>
            <a:off x="889000" y="4724400"/>
            <a:ext cx="247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1150">
                <a:solidFill>
                  <a:srgbClr val="666A73"/>
                </a:solidFill>
                <a:latin typeface="Arial" panose="020B0604020202020204" pitchFamily="34" charset="0"/>
              </a:rPr>
              <a:t>Светлые оттенки, цветы, ткань.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EEF5FD6-ECF2-2D3B-87FC-5F5D5BA6EA93}"/>
              </a:ext>
            </a:extLst>
          </p:cNvPr>
          <p:cNvSpPr/>
          <p:nvPr/>
        </p:nvSpPr>
        <p:spPr>
          <a:xfrm>
            <a:off x="3873500" y="3111500"/>
            <a:ext cx="3073400" cy="2413000"/>
          </a:xfrm>
          <a:prstGeom prst="roundRect">
            <a:avLst/>
          </a:prstGeom>
          <a:solidFill>
            <a:srgbClr val="FFFFFF"/>
          </a:solidFill>
          <a:ln>
            <a:solidFill>
              <a:srgbClr val="E0E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710A55DD-84BC-A1DF-530A-4744DA780508}"/>
              </a:ext>
            </a:extLst>
          </p:cNvPr>
          <p:cNvSpPr/>
          <p:nvPr/>
        </p:nvSpPr>
        <p:spPr>
          <a:xfrm>
            <a:off x="4152900" y="3390900"/>
            <a:ext cx="482600" cy="482600"/>
          </a:xfrm>
          <a:prstGeom prst="ellipse">
            <a:avLst/>
          </a:prstGeom>
          <a:solidFill>
            <a:srgbClr val="D9D1E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B50957-1CE3-8584-E29A-218581FC0703}"/>
              </a:ext>
            </a:extLst>
          </p:cNvPr>
          <p:cNvSpPr txBox="1"/>
          <p:nvPr/>
        </p:nvSpPr>
        <p:spPr>
          <a:xfrm>
            <a:off x="4152900" y="35306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BY" sz="900" b="1">
                <a:solidFill>
                  <a:srgbClr val="08090D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FF6F30-9664-81AE-47D4-F760D49C37E4}"/>
              </a:ext>
            </a:extLst>
          </p:cNvPr>
          <p:cNvSpPr txBox="1"/>
          <p:nvPr/>
        </p:nvSpPr>
        <p:spPr>
          <a:xfrm>
            <a:off x="4152900" y="4165600"/>
            <a:ext cx="2476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1900" b="1">
                <a:solidFill>
                  <a:srgbClr val="08090D"/>
                </a:solidFill>
                <a:latin typeface="Georgia" panose="02040502050405020303" pitchFamily="18" charset="0"/>
              </a:rPr>
              <a:t>Юбилей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3FE97-AE1E-D67E-6744-E9CA68A66A60}"/>
              </a:ext>
            </a:extLst>
          </p:cNvPr>
          <p:cNvSpPr txBox="1"/>
          <p:nvPr/>
        </p:nvSpPr>
        <p:spPr>
          <a:xfrm>
            <a:off x="4152900" y="4724400"/>
            <a:ext cx="2476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1150">
                <a:solidFill>
                  <a:srgbClr val="666A73"/>
                </a:solidFill>
                <a:latin typeface="Arial" panose="020B0604020202020204" pitchFamily="34" charset="0"/>
              </a:rPr>
              <a:t>Подсветка, цифры, акцентные элементы.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04E518B7-332A-9E5F-F28B-70BE2734FCD1}"/>
              </a:ext>
            </a:extLst>
          </p:cNvPr>
          <p:cNvSpPr/>
          <p:nvPr/>
        </p:nvSpPr>
        <p:spPr>
          <a:xfrm>
            <a:off x="609600" y="6096000"/>
            <a:ext cx="3073400" cy="2413000"/>
          </a:xfrm>
          <a:prstGeom prst="roundRect">
            <a:avLst/>
          </a:prstGeom>
          <a:solidFill>
            <a:srgbClr val="FFFFFF"/>
          </a:solidFill>
          <a:ln>
            <a:solidFill>
              <a:srgbClr val="E0E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9E4566DC-499D-DA39-BC5A-EA6B310F2D8F}"/>
              </a:ext>
            </a:extLst>
          </p:cNvPr>
          <p:cNvSpPr/>
          <p:nvPr/>
        </p:nvSpPr>
        <p:spPr>
          <a:xfrm>
            <a:off x="889000" y="6375400"/>
            <a:ext cx="482600" cy="482600"/>
          </a:xfrm>
          <a:prstGeom prst="ellipse">
            <a:avLst/>
          </a:prstGeom>
          <a:solidFill>
            <a:srgbClr val="D9D1E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4C659A-F81D-066A-763A-321CF7BA3A10}"/>
              </a:ext>
            </a:extLst>
          </p:cNvPr>
          <p:cNvSpPr txBox="1"/>
          <p:nvPr/>
        </p:nvSpPr>
        <p:spPr>
          <a:xfrm>
            <a:off x="889000" y="65151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BY" sz="900" b="1">
                <a:solidFill>
                  <a:srgbClr val="08090D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83259F-84EE-F6F0-32B3-2E7394274628}"/>
              </a:ext>
            </a:extLst>
          </p:cNvPr>
          <p:cNvSpPr txBox="1"/>
          <p:nvPr/>
        </p:nvSpPr>
        <p:spPr>
          <a:xfrm>
            <a:off x="889000" y="7150100"/>
            <a:ext cx="2476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1900" b="1">
                <a:solidFill>
                  <a:srgbClr val="08090D"/>
                </a:solidFill>
                <a:latin typeface="Georgia" panose="02040502050405020303" pitchFamily="18" charset="0"/>
              </a:rPr>
              <a:t>Детский праздник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E0FCF3-8F74-30F3-8CFF-30D0613C91B9}"/>
              </a:ext>
            </a:extLst>
          </p:cNvPr>
          <p:cNvSpPr txBox="1"/>
          <p:nvPr/>
        </p:nvSpPr>
        <p:spPr>
          <a:xfrm>
            <a:off x="889000" y="7708900"/>
            <a:ext cx="247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150">
                <a:solidFill>
                  <a:srgbClr val="666A73"/>
                </a:solidFill>
                <a:latin typeface="Arial" panose="020B0604020202020204" pitchFamily="34" charset="0"/>
              </a:rPr>
              <a:t>Мягкие формы и пастельные цвета.</a:t>
            </a:r>
            <a:endParaRPr lang="ru-BY" sz="1150">
              <a:solidFill>
                <a:srgbClr val="666A73"/>
              </a:solidFill>
              <a:latin typeface="Arial" panose="020B0604020202020204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CEF22C6-3FE8-B1D8-83CA-1E92D4B9D346}"/>
              </a:ext>
            </a:extLst>
          </p:cNvPr>
          <p:cNvSpPr/>
          <p:nvPr/>
        </p:nvSpPr>
        <p:spPr>
          <a:xfrm>
            <a:off x="3873500" y="6096000"/>
            <a:ext cx="3073400" cy="2413000"/>
          </a:xfrm>
          <a:prstGeom prst="roundRect">
            <a:avLst/>
          </a:prstGeom>
          <a:solidFill>
            <a:srgbClr val="FFFFFF"/>
          </a:solidFill>
          <a:ln>
            <a:solidFill>
              <a:srgbClr val="E0E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6C4ABF60-0550-47EE-FD0D-885215366222}"/>
              </a:ext>
            </a:extLst>
          </p:cNvPr>
          <p:cNvSpPr/>
          <p:nvPr/>
        </p:nvSpPr>
        <p:spPr>
          <a:xfrm>
            <a:off x="4152900" y="6375400"/>
            <a:ext cx="482600" cy="482600"/>
          </a:xfrm>
          <a:prstGeom prst="ellipse">
            <a:avLst/>
          </a:prstGeom>
          <a:solidFill>
            <a:srgbClr val="D9D1E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F6FF81-37F2-26C5-9432-0A3DE12210F7}"/>
              </a:ext>
            </a:extLst>
          </p:cNvPr>
          <p:cNvSpPr txBox="1"/>
          <p:nvPr/>
        </p:nvSpPr>
        <p:spPr>
          <a:xfrm>
            <a:off x="4152900" y="6515100"/>
            <a:ext cx="482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BY" sz="900" b="1">
                <a:solidFill>
                  <a:srgbClr val="08090D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50AC1D-71B6-F370-FB2C-2E35B6AA2F15}"/>
              </a:ext>
            </a:extLst>
          </p:cNvPr>
          <p:cNvSpPr txBox="1"/>
          <p:nvPr/>
        </p:nvSpPr>
        <p:spPr>
          <a:xfrm>
            <a:off x="4152900" y="7150100"/>
            <a:ext cx="2476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1900" b="1">
                <a:solidFill>
                  <a:srgbClr val="08090D"/>
                </a:solidFill>
                <a:latin typeface="Georgia" panose="02040502050405020303" pitchFamily="18" charset="0"/>
              </a:rPr>
              <a:t>Корпоратив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EF1C8E-2528-5F68-1CC3-B9CC16394D23}"/>
              </a:ext>
            </a:extLst>
          </p:cNvPr>
          <p:cNvSpPr txBox="1"/>
          <p:nvPr/>
        </p:nvSpPr>
        <p:spPr>
          <a:xfrm>
            <a:off x="4152900" y="7708900"/>
            <a:ext cx="2476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1150">
                <a:solidFill>
                  <a:srgbClr val="666A73"/>
                </a:solidFill>
                <a:latin typeface="Arial" panose="020B0604020202020204" pitchFamily="34" charset="0"/>
              </a:rPr>
              <a:t>Логотип компании и брендирование.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4144FCC-D4A9-4C74-D668-4829F269E5F5}"/>
              </a:ext>
            </a:extLst>
          </p:cNvPr>
          <p:cNvSpPr/>
          <p:nvPr/>
        </p:nvSpPr>
        <p:spPr>
          <a:xfrm>
            <a:off x="609600" y="10248900"/>
            <a:ext cx="6340856" cy="10160"/>
          </a:xfrm>
          <a:prstGeom prst="rect">
            <a:avLst/>
          </a:prstGeom>
          <a:solidFill>
            <a:srgbClr val="666A73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72B31A-02D1-7CBD-173A-64DD52BAA75E}"/>
              </a:ext>
            </a:extLst>
          </p:cNvPr>
          <p:cNvSpPr txBox="1"/>
          <p:nvPr/>
        </p:nvSpPr>
        <p:spPr>
          <a:xfrm>
            <a:off x="609600" y="10350500"/>
            <a:ext cx="5207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50">
                <a:solidFill>
                  <a:srgbClr val="666A73"/>
                </a:solidFill>
                <a:latin typeface="Arial" panose="020B0604020202020204" pitchFamily="34" charset="0"/>
              </a:rPr>
              <a:t>LavDragon • Фотозоны и оформление мероприятий в Минске</a:t>
            </a:r>
            <a:endParaRPr lang="ru-BY" sz="850">
              <a:solidFill>
                <a:srgbClr val="666A73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BDEACC-BEA0-D408-90DA-5233C7813191}"/>
              </a:ext>
            </a:extLst>
          </p:cNvPr>
          <p:cNvSpPr txBox="1"/>
          <p:nvPr/>
        </p:nvSpPr>
        <p:spPr>
          <a:xfrm>
            <a:off x="6632956" y="10350500"/>
            <a:ext cx="317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BY" sz="850" b="1">
                <a:solidFill>
                  <a:srgbClr val="666A73"/>
                </a:solidFill>
                <a:latin typeface="Arial" panose="020B06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63214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240A014-61E0-3B5D-5453-182A7D815BBC}"/>
              </a:ext>
            </a:extLst>
          </p:cNvPr>
          <p:cNvSpPr/>
          <p:nvPr/>
        </p:nvSpPr>
        <p:spPr>
          <a:xfrm>
            <a:off x="0" y="0"/>
            <a:ext cx="7560056" cy="10692003"/>
          </a:xfrm>
          <a:prstGeom prst="rect">
            <a:avLst/>
          </a:prstGeom>
          <a:solidFill>
            <a:srgbClr val="08090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4B258E69-0D2A-4412-2F86-1DA8BC0362F1}"/>
              </a:ext>
            </a:extLst>
          </p:cNvPr>
          <p:cNvSpPr/>
          <p:nvPr/>
        </p:nvSpPr>
        <p:spPr>
          <a:xfrm>
            <a:off x="4953000" y="-1016000"/>
            <a:ext cx="3175000" cy="3175000"/>
          </a:xfrm>
          <a:prstGeom prst="ellipse">
            <a:avLst/>
          </a:prstGeom>
          <a:solidFill>
            <a:srgbClr val="B9A7D8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775B06-A6B1-3D3D-28E6-D1CDAAEF69E9}"/>
              </a:ext>
            </a:extLst>
          </p:cNvPr>
          <p:cNvSpPr txBox="1"/>
          <p:nvPr/>
        </p:nvSpPr>
        <p:spPr>
          <a:xfrm>
            <a:off x="609600" y="635000"/>
            <a:ext cx="622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DC0E2"/>
                </a:solidFill>
                <a:latin typeface="Arial" panose="020B0604020202020204" pitchFamily="34" charset="0"/>
              </a:rPr>
              <a:t>LAVDRAGON • </a:t>
            </a:r>
            <a:r>
              <a:rPr lang="ru-BY" sz="900" b="1">
                <a:solidFill>
                  <a:srgbClr val="CDC0E2"/>
                </a:solidFill>
                <a:latin typeface="Arial" panose="020B0604020202020204" pitchFamily="34" charset="0"/>
              </a:rPr>
              <a:t>МИНСК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91866-792C-5BF3-E381-DB19063AAF17}"/>
              </a:ext>
            </a:extLst>
          </p:cNvPr>
          <p:cNvSpPr txBox="1"/>
          <p:nvPr/>
        </p:nvSpPr>
        <p:spPr>
          <a:xfrm>
            <a:off x="863600" y="2667000"/>
            <a:ext cx="58420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BY" sz="3800" b="1">
                <a:solidFill>
                  <a:srgbClr val="FFFFFF"/>
                </a:solidFill>
                <a:latin typeface="Georgia" panose="02040502050405020303" pitchFamily="18" charset="0"/>
              </a:rPr>
              <a:t>Получите бесплатный расчёт фотозоны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EE6B6-8828-F97C-031F-C8411385D15C}"/>
              </a:ext>
            </a:extLst>
          </p:cNvPr>
          <p:cNvSpPr txBox="1"/>
          <p:nvPr/>
        </p:nvSpPr>
        <p:spPr>
          <a:xfrm>
            <a:off x="863600" y="4381500"/>
            <a:ext cx="5461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500">
                <a:solidFill>
                  <a:srgbClr val="D3D5DA"/>
                </a:solidFill>
                <a:latin typeface="Arial" panose="020B0604020202020204" pitchFamily="34" charset="0"/>
              </a:rPr>
              <a:t>Мы подберём оформление под вашу площадку, стиль мероприятия и бюджет.</a:t>
            </a:r>
            <a:endParaRPr lang="ru-BY" sz="1500">
              <a:solidFill>
                <a:srgbClr val="D3D5DA"/>
              </a:solidFill>
              <a:latin typeface="Arial" panose="020B0604020202020204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6BC3335-D447-BBCB-EA23-CB0BD6D02FC6}"/>
              </a:ext>
            </a:extLst>
          </p:cNvPr>
          <p:cNvSpPr/>
          <p:nvPr/>
        </p:nvSpPr>
        <p:spPr>
          <a:xfrm>
            <a:off x="863600" y="5588000"/>
            <a:ext cx="5842000" cy="2159000"/>
          </a:xfrm>
          <a:prstGeom prst="roundRect">
            <a:avLst/>
          </a:prstGeom>
          <a:solidFill>
            <a:srgbClr val="1B1D23"/>
          </a:solidFill>
          <a:ln>
            <a:solidFill>
              <a:srgbClr val="5A5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FFF354-597B-9331-5058-F00CFD974CBF}"/>
              </a:ext>
            </a:extLst>
          </p:cNvPr>
          <p:cNvSpPr txBox="1"/>
          <p:nvPr/>
        </p:nvSpPr>
        <p:spPr>
          <a:xfrm>
            <a:off x="1168400" y="5930900"/>
            <a:ext cx="5207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1300" b="1">
                <a:solidFill>
                  <a:srgbClr val="FFFFFF"/>
                </a:solidFill>
                <a:latin typeface="Arial" panose="020B0604020202020204" pitchFamily="34" charset="0"/>
              </a:rPr>
              <a:t>✓ Более 100 реализованных проектов
✓ Монтаж и демонтаж включены
✓ Работаем по Минску и области
✓ Индивидуальный дизайн</a:t>
            </a:r>
            <a:endParaRPr lang="ru-BY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Прямоугольник: скругленные углы 8">
            <a:hlinkClick r:id="rId2"/>
            <a:extLst>
              <a:ext uri="{FF2B5EF4-FFF2-40B4-BE49-F238E27FC236}">
                <a16:creationId xmlns:a16="http://schemas.microsoft.com/office/drawing/2014/main" id="{A7B360AB-BC03-3C4D-9C5A-EC01BA89465A}"/>
              </a:ext>
            </a:extLst>
          </p:cNvPr>
          <p:cNvSpPr/>
          <p:nvPr/>
        </p:nvSpPr>
        <p:spPr>
          <a:xfrm>
            <a:off x="863600" y="8280400"/>
            <a:ext cx="2603500" cy="609600"/>
          </a:xfrm>
          <a:prstGeom prst="roundRect">
            <a:avLst/>
          </a:prstGeom>
          <a:solidFill>
            <a:srgbClr val="C9CED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EFAA67-0DFA-4198-0536-DB4D87FAC6E0}"/>
              </a:ext>
            </a:extLst>
          </p:cNvPr>
          <p:cNvSpPr txBox="1"/>
          <p:nvPr/>
        </p:nvSpPr>
        <p:spPr>
          <a:xfrm>
            <a:off x="863600" y="8470900"/>
            <a:ext cx="2603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8090D"/>
                </a:solidFill>
                <a:latin typeface="Arial" panose="020B0604020202020204" pitchFamily="34" charset="0"/>
              </a:rPr>
              <a:t>Telegram</a:t>
            </a:r>
            <a:endParaRPr lang="ru-BY" sz="1200" b="1">
              <a:solidFill>
                <a:srgbClr val="08090D"/>
              </a:solidFill>
              <a:latin typeface="Arial" panose="020B0604020202020204" pitchFamily="34" charset="0"/>
            </a:endParaRPr>
          </a:p>
        </p:txBody>
      </p:sp>
      <p:sp>
        <p:nvSpPr>
          <p:cNvPr id="11" name="Прямоугольник: скругленные углы 10">
            <a:hlinkClick r:id="rId3"/>
            <a:extLst>
              <a:ext uri="{FF2B5EF4-FFF2-40B4-BE49-F238E27FC236}">
                <a16:creationId xmlns:a16="http://schemas.microsoft.com/office/drawing/2014/main" id="{E4D050FD-733A-17FB-2C2D-8F33CE9ECD90}"/>
              </a:ext>
            </a:extLst>
          </p:cNvPr>
          <p:cNvSpPr/>
          <p:nvPr/>
        </p:nvSpPr>
        <p:spPr>
          <a:xfrm>
            <a:off x="3683000" y="8280400"/>
            <a:ext cx="2603500" cy="609600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FC0216-CF0E-49D0-2847-947B23FB09BF}"/>
              </a:ext>
            </a:extLst>
          </p:cNvPr>
          <p:cNvSpPr txBox="1"/>
          <p:nvPr/>
        </p:nvSpPr>
        <p:spPr>
          <a:xfrm>
            <a:off x="3683000" y="8470900"/>
            <a:ext cx="2603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ru-BY" sz="1200" b="1">
                <a:solidFill>
                  <a:srgbClr val="FFFFFF"/>
                </a:solidFill>
                <a:latin typeface="Arial" panose="020B0604020202020204" pitchFamily="34" charset="0"/>
              </a:rPr>
              <a:t>Телефон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53C4262-1800-3D29-2698-CE9B533EC9CC}"/>
              </a:ext>
            </a:extLst>
          </p:cNvPr>
          <p:cNvSpPr/>
          <p:nvPr/>
        </p:nvSpPr>
        <p:spPr>
          <a:xfrm>
            <a:off x="609600" y="10248900"/>
            <a:ext cx="6340856" cy="10160"/>
          </a:xfrm>
          <a:prstGeom prst="rect">
            <a:avLst/>
          </a:prstGeom>
          <a:solidFill>
            <a:srgbClr val="D2D4DA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BA8FF-C19D-13B8-98A3-3092668782E8}"/>
              </a:ext>
            </a:extLst>
          </p:cNvPr>
          <p:cNvSpPr txBox="1"/>
          <p:nvPr/>
        </p:nvSpPr>
        <p:spPr>
          <a:xfrm>
            <a:off x="609600" y="10350500"/>
            <a:ext cx="5207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ru-RU" sz="850">
                <a:solidFill>
                  <a:srgbClr val="D2D4DA"/>
                </a:solidFill>
                <a:latin typeface="Arial" panose="020B0604020202020204" pitchFamily="34" charset="0"/>
              </a:rPr>
              <a:t>LavDragon • Фотозоны и оформление мероприятий в Минске</a:t>
            </a:r>
            <a:endParaRPr lang="ru-BY" sz="850">
              <a:solidFill>
                <a:srgbClr val="D2D4DA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972588-AF26-E877-8963-D1724558B510}"/>
              </a:ext>
            </a:extLst>
          </p:cNvPr>
          <p:cNvSpPr txBox="1"/>
          <p:nvPr/>
        </p:nvSpPr>
        <p:spPr>
          <a:xfrm>
            <a:off x="6632956" y="10350500"/>
            <a:ext cx="317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ru-BY" sz="850" b="1">
                <a:solidFill>
                  <a:srgbClr val="D2D4DA"/>
                </a:solidFill>
                <a:latin typeface="Arial" panose="020B06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32820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</Words>
  <Application>Microsoft Office PowerPoint</Application>
  <PresentationFormat>Произвольный</PresentationFormat>
  <Paragraphs>64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Georgia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mikolagichik@gmail.com</dc:creator>
  <cp:lastModifiedBy>mikolagichik@gmail.com</cp:lastModifiedBy>
  <cp:revision>1</cp:revision>
  <dcterms:created xsi:type="dcterms:W3CDTF">2026-06-24T22:31:54Z</dcterms:created>
  <dcterms:modified xsi:type="dcterms:W3CDTF">2026-06-24T22:31:55Z</dcterms:modified>
</cp:coreProperties>
</file>